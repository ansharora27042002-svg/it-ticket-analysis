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6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70" r:id="rId14"/>
    <p:sldId id="271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emplate%20(IT%20tickets)%20fina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final.xlsx]Q-8 I Subjective!PivotTable13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Age</a:t>
            </a:r>
            <a:r>
              <a:rPr lang="en-IN" b="1" baseline="0" dirty="0">
                <a:solidFill>
                  <a:srgbClr val="002060"/>
                </a:solidFill>
              </a:rPr>
              <a:t> Group by Satisfaction Rate</a:t>
            </a:r>
            <a:endParaRPr lang="en-IN" b="1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'Q-8 I Subjective'!$C$7</c:f>
              <c:strCache>
                <c:ptCount val="1"/>
                <c:pt idx="0">
                  <c:v>Average of Resolution Time 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'Q-8 I Subjective'!$B$8:$B$11</c:f>
              <c:strCache>
                <c:ptCount val="3"/>
                <c:pt idx="0">
                  <c:v>20-30</c:v>
                </c:pt>
                <c:pt idx="1">
                  <c:v>31-40</c:v>
                </c:pt>
                <c:pt idx="2">
                  <c:v>40+</c:v>
                </c:pt>
              </c:strCache>
            </c:strRef>
          </c:cat>
          <c:val>
            <c:numRef>
              <c:f>'Q-8 I Subjective'!$C$8:$C$11</c:f>
              <c:numCache>
                <c:formatCode>General</c:formatCode>
                <c:ptCount val="3"/>
                <c:pt idx="0">
                  <c:v>4.5089683773976157</c:v>
                </c:pt>
                <c:pt idx="1">
                  <c:v>4.6165074903376242</c:v>
                </c:pt>
                <c:pt idx="2">
                  <c:v>4.5256074700244051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B-41C3-917F-419F8DE913D7}"/>
            </c:ext>
          </c:extLst>
        </c:ser>
        <c:ser>
          <c:idx val="1"/>
          <c:order val="1"/>
          <c:tx>
            <c:strRef>
              <c:f>'Q-8 I Subjective'!$D$7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'Q-8 I Subjective'!$B$8:$B$11</c:f>
              <c:strCache>
                <c:ptCount val="3"/>
                <c:pt idx="0">
                  <c:v>20-30</c:v>
                </c:pt>
                <c:pt idx="1">
                  <c:v>31-40</c:v>
                </c:pt>
                <c:pt idx="2">
                  <c:v>40+</c:v>
                </c:pt>
              </c:strCache>
            </c:strRef>
          </c:cat>
          <c:val>
            <c:numRef>
              <c:f>'Q-8 I Subjective'!$D$8:$D$11</c:f>
              <c:numCache>
                <c:formatCode>General</c:formatCode>
                <c:ptCount val="3"/>
                <c:pt idx="0">
                  <c:v>4.2594090202177295</c:v>
                </c:pt>
                <c:pt idx="1">
                  <c:v>4.0951544383045322</c:v>
                </c:pt>
                <c:pt idx="2">
                  <c:v>4.0766101934708026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FB-41C3-917F-419F8DE913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737648"/>
        <c:axId val="1552739088"/>
      </c:barChart>
      <c:catAx>
        <c:axId val="155273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2739088"/>
        <c:crosses val="autoZero"/>
        <c:auto val="1"/>
        <c:lblAlgn val="ctr"/>
        <c:lblOffset val="100"/>
        <c:noMultiLvlLbl val="0"/>
      </c:catAx>
      <c:valAx>
        <c:axId val="155273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273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 cap="flat" cmpd="sng" algn="ctr">
      <a:solidFill>
        <a:srgbClr val="00206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final.xlsx]Q-4 I Objective!PivotTable2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Count</a:t>
            </a:r>
            <a:r>
              <a:rPr lang="en-IN" b="1" baseline="0" dirty="0">
                <a:solidFill>
                  <a:srgbClr val="002060"/>
                </a:solidFill>
              </a:rPr>
              <a:t> of tickets by request category</a:t>
            </a:r>
            <a:endParaRPr lang="en-IN" b="1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'Q-4 I Objective'!$C$7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D2F-4A0F-9762-1091CA8055D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D2F-4A0F-9762-1091CA8055D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D2F-4A0F-9762-1091CA8055D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D2F-4A0F-9762-1091CA8055D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'Q-4 I Objective'!$B$8:$B$12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'Q-4 I Objective'!$C$8:$C$12</c:f>
              <c:numCache>
                <c:formatCode>General</c:formatCode>
                <c:ptCount val="4"/>
                <c:pt idx="0">
                  <c:v>9733</c:v>
                </c:pt>
                <c:pt idx="1">
                  <c:v>29193</c:v>
                </c:pt>
                <c:pt idx="2">
                  <c:v>19570</c:v>
                </c:pt>
                <c:pt idx="3">
                  <c:v>39002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2F-4A0F-9762-1091CA805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 cap="flat" cmpd="sng" algn="ctr">
      <a:solidFill>
        <a:srgbClr val="00206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final.xlsx]Q-6 I Subjective!PivotTable18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Satisfaction</a:t>
            </a:r>
            <a:r>
              <a:rPr lang="en-IN" b="1" baseline="0" dirty="0">
                <a:solidFill>
                  <a:srgbClr val="002060"/>
                </a:solidFill>
              </a:rPr>
              <a:t> rate by time</a:t>
            </a:r>
            <a:endParaRPr lang="en-IN" b="1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'Q-6 I Subjective'!$C$7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'Q-6 I Subjective'!$B$8:$B$68</c:f>
              <c:strCache>
                <c:ptCount val="60"/>
                <c:pt idx="0">
                  <c:v>Apr-2016</c:v>
                </c:pt>
                <c:pt idx="1">
                  <c:v>Apr-2017</c:v>
                </c:pt>
                <c:pt idx="2">
                  <c:v>Apr-2018</c:v>
                </c:pt>
                <c:pt idx="3">
                  <c:v>Apr-2019</c:v>
                </c:pt>
                <c:pt idx="4">
                  <c:v>Apr-2020</c:v>
                </c:pt>
                <c:pt idx="5">
                  <c:v>Aug-2016</c:v>
                </c:pt>
                <c:pt idx="6">
                  <c:v>Aug-2017</c:v>
                </c:pt>
                <c:pt idx="7">
                  <c:v>Aug-2018</c:v>
                </c:pt>
                <c:pt idx="8">
                  <c:v>Aug-2019</c:v>
                </c:pt>
                <c:pt idx="9">
                  <c:v>Aug-2020</c:v>
                </c:pt>
                <c:pt idx="10">
                  <c:v>Dec-2016</c:v>
                </c:pt>
                <c:pt idx="11">
                  <c:v>Dec-2017</c:v>
                </c:pt>
                <c:pt idx="12">
                  <c:v>Dec-2018</c:v>
                </c:pt>
                <c:pt idx="13">
                  <c:v>Dec-2019</c:v>
                </c:pt>
                <c:pt idx="14">
                  <c:v>Dec-2020</c:v>
                </c:pt>
                <c:pt idx="15">
                  <c:v>Feb-2016</c:v>
                </c:pt>
                <c:pt idx="16">
                  <c:v>Feb-2017</c:v>
                </c:pt>
                <c:pt idx="17">
                  <c:v>Feb-2018</c:v>
                </c:pt>
                <c:pt idx="18">
                  <c:v>Feb-2019</c:v>
                </c:pt>
                <c:pt idx="19">
                  <c:v>Feb-2020</c:v>
                </c:pt>
                <c:pt idx="20">
                  <c:v>Jan-2016</c:v>
                </c:pt>
                <c:pt idx="21">
                  <c:v>Jan-2017</c:v>
                </c:pt>
                <c:pt idx="22">
                  <c:v>Jan-2018</c:v>
                </c:pt>
                <c:pt idx="23">
                  <c:v>Jan-2019</c:v>
                </c:pt>
                <c:pt idx="24">
                  <c:v>Jan-2020</c:v>
                </c:pt>
                <c:pt idx="25">
                  <c:v>Jul-2016</c:v>
                </c:pt>
                <c:pt idx="26">
                  <c:v>Jul-2017</c:v>
                </c:pt>
                <c:pt idx="27">
                  <c:v>Jul-2018</c:v>
                </c:pt>
                <c:pt idx="28">
                  <c:v>Jul-2019</c:v>
                </c:pt>
                <c:pt idx="29">
                  <c:v>Jul-2020</c:v>
                </c:pt>
                <c:pt idx="30">
                  <c:v>Jun-2016</c:v>
                </c:pt>
                <c:pt idx="31">
                  <c:v>Jun-2017</c:v>
                </c:pt>
                <c:pt idx="32">
                  <c:v>Jun-2018</c:v>
                </c:pt>
                <c:pt idx="33">
                  <c:v>Jun-2019</c:v>
                </c:pt>
                <c:pt idx="34">
                  <c:v>Jun-2020</c:v>
                </c:pt>
                <c:pt idx="35">
                  <c:v>Mar-2016</c:v>
                </c:pt>
                <c:pt idx="36">
                  <c:v>Mar-2017</c:v>
                </c:pt>
                <c:pt idx="37">
                  <c:v>Mar-2018</c:v>
                </c:pt>
                <c:pt idx="38">
                  <c:v>Mar-2019</c:v>
                </c:pt>
                <c:pt idx="39">
                  <c:v>Mar-2020</c:v>
                </c:pt>
                <c:pt idx="40">
                  <c:v>May-2016</c:v>
                </c:pt>
                <c:pt idx="41">
                  <c:v>May-2017</c:v>
                </c:pt>
                <c:pt idx="42">
                  <c:v>May-2018</c:v>
                </c:pt>
                <c:pt idx="43">
                  <c:v>May-2019</c:v>
                </c:pt>
                <c:pt idx="44">
                  <c:v>May-2020</c:v>
                </c:pt>
                <c:pt idx="45">
                  <c:v>Nov-2016</c:v>
                </c:pt>
                <c:pt idx="46">
                  <c:v>Nov-2017</c:v>
                </c:pt>
                <c:pt idx="47">
                  <c:v>Nov-2018</c:v>
                </c:pt>
                <c:pt idx="48">
                  <c:v>Nov-2019</c:v>
                </c:pt>
                <c:pt idx="49">
                  <c:v>Nov-2020</c:v>
                </c:pt>
                <c:pt idx="50">
                  <c:v>Oct-2016</c:v>
                </c:pt>
                <c:pt idx="51">
                  <c:v>Oct-2017</c:v>
                </c:pt>
                <c:pt idx="52">
                  <c:v>Oct-2018</c:v>
                </c:pt>
                <c:pt idx="53">
                  <c:v>Oct-2019</c:v>
                </c:pt>
                <c:pt idx="54">
                  <c:v>Oct-2020</c:v>
                </c:pt>
                <c:pt idx="55">
                  <c:v>Sep-2016</c:v>
                </c:pt>
                <c:pt idx="56">
                  <c:v>Sep-2017</c:v>
                </c:pt>
                <c:pt idx="57">
                  <c:v>Sep-2018</c:v>
                </c:pt>
                <c:pt idx="58">
                  <c:v>Sep-2019</c:v>
                </c:pt>
                <c:pt idx="59">
                  <c:v>Sep-2020</c:v>
                </c:pt>
              </c:strCache>
            </c:strRef>
          </c:cat>
          <c:val>
            <c:numRef>
              <c:f>'Q-6 I Subjective'!$C$8:$C$68</c:f>
              <c:numCache>
                <c:formatCode>General</c:formatCode>
                <c:ptCount val="60"/>
                <c:pt idx="0">
                  <c:v>4.0123339658444026</c:v>
                </c:pt>
                <c:pt idx="1">
                  <c:v>4.0530120481927714</c:v>
                </c:pt>
                <c:pt idx="2">
                  <c:v>4.1001843884449904</c:v>
                </c:pt>
                <c:pt idx="3">
                  <c:v>4.1770963704630786</c:v>
                </c:pt>
                <c:pt idx="4">
                  <c:v>4.1566514711976792</c:v>
                </c:pt>
                <c:pt idx="5">
                  <c:v>3.9990825688073395</c:v>
                </c:pt>
                <c:pt idx="6">
                  <c:v>4.0516282764098488</c:v>
                </c:pt>
                <c:pt idx="7">
                  <c:v>4.0892750149790293</c:v>
                </c:pt>
                <c:pt idx="8">
                  <c:v>4.1396325459317582</c:v>
                </c:pt>
                <c:pt idx="9">
                  <c:v>4.1395167575993765</c:v>
                </c:pt>
                <c:pt idx="10">
                  <c:v>4.0569395017793592</c:v>
                </c:pt>
                <c:pt idx="11">
                  <c:v>4.0755767700875101</c:v>
                </c:pt>
                <c:pt idx="12">
                  <c:v>4.0929174788823914</c:v>
                </c:pt>
                <c:pt idx="13">
                  <c:v>4.0737179487179489</c:v>
                </c:pt>
                <c:pt idx="14">
                  <c:v>4.1556151782292066</c:v>
                </c:pt>
                <c:pt idx="15">
                  <c:v>3.9346590909090908</c:v>
                </c:pt>
                <c:pt idx="16">
                  <c:v>4.0208514335360555</c:v>
                </c:pt>
                <c:pt idx="17">
                  <c:v>4.0570670205706705</c:v>
                </c:pt>
                <c:pt idx="18">
                  <c:v>4.0784650630011452</c:v>
                </c:pt>
                <c:pt idx="19">
                  <c:v>4.1593609176566977</c:v>
                </c:pt>
                <c:pt idx="20">
                  <c:v>3.9605381165919282</c:v>
                </c:pt>
                <c:pt idx="21">
                  <c:v>4.1431111111111107</c:v>
                </c:pt>
                <c:pt idx="22">
                  <c:v>4.2265321955003881</c:v>
                </c:pt>
                <c:pt idx="23">
                  <c:v>4.2056504599211566</c:v>
                </c:pt>
                <c:pt idx="24">
                  <c:v>4.1716111364673667</c:v>
                </c:pt>
                <c:pt idx="25">
                  <c:v>3.9509536784741144</c:v>
                </c:pt>
                <c:pt idx="26">
                  <c:v>4.0819140308191404</c:v>
                </c:pt>
                <c:pt idx="27">
                  <c:v>4.0790123456790122</c:v>
                </c:pt>
                <c:pt idx="28">
                  <c:v>4.1161803713527849</c:v>
                </c:pt>
                <c:pt idx="29">
                  <c:v>4.2720753025549083</c:v>
                </c:pt>
                <c:pt idx="30">
                  <c:v>3.955280685061846</c:v>
                </c:pt>
                <c:pt idx="31">
                  <c:v>4.102090032154341</c:v>
                </c:pt>
                <c:pt idx="32">
                  <c:v>4.0609903381642516</c:v>
                </c:pt>
                <c:pt idx="33">
                  <c:v>4.0840659340659338</c:v>
                </c:pt>
                <c:pt idx="34">
                  <c:v>4.176793248945148</c:v>
                </c:pt>
                <c:pt idx="35">
                  <c:v>3.949321266968326</c:v>
                </c:pt>
                <c:pt idx="36">
                  <c:v>4.0366328916601715</c:v>
                </c:pt>
                <c:pt idx="37">
                  <c:v>4.1149659863945578</c:v>
                </c:pt>
                <c:pt idx="38">
                  <c:v>4.1213434452871072</c:v>
                </c:pt>
                <c:pt idx="39">
                  <c:v>4.0879556259904914</c:v>
                </c:pt>
                <c:pt idx="40">
                  <c:v>3.9336206896551724</c:v>
                </c:pt>
                <c:pt idx="41">
                  <c:v>4.0289962825278813</c:v>
                </c:pt>
                <c:pt idx="42">
                  <c:v>4.0568663036902599</c:v>
                </c:pt>
                <c:pt idx="43">
                  <c:v>4.1695501730103803</c:v>
                </c:pt>
                <c:pt idx="44">
                  <c:v>4.2462987886944816</c:v>
                </c:pt>
                <c:pt idx="45">
                  <c:v>4.0430210325047797</c:v>
                </c:pt>
                <c:pt idx="46">
                  <c:v>4.0667739340305715</c:v>
                </c:pt>
                <c:pt idx="47">
                  <c:v>4.1033210332103325</c:v>
                </c:pt>
                <c:pt idx="48">
                  <c:v>4.0988530857454943</c:v>
                </c:pt>
                <c:pt idx="49">
                  <c:v>4.1172248803827749</c:v>
                </c:pt>
                <c:pt idx="50">
                  <c:v>3.9595588235294117</c:v>
                </c:pt>
                <c:pt idx="51">
                  <c:v>4.0980842911877398</c:v>
                </c:pt>
                <c:pt idx="52">
                  <c:v>4.0560240963855421</c:v>
                </c:pt>
                <c:pt idx="53">
                  <c:v>4.1024000000000003</c:v>
                </c:pt>
                <c:pt idx="54">
                  <c:v>4.1254382547721073</c:v>
                </c:pt>
                <c:pt idx="55">
                  <c:v>4.0047125353440149</c:v>
                </c:pt>
                <c:pt idx="56">
                  <c:v>4.0653061224489795</c:v>
                </c:pt>
                <c:pt idx="57">
                  <c:v>4.0946275946275943</c:v>
                </c:pt>
                <c:pt idx="58">
                  <c:v>4.1239224137931032</c:v>
                </c:pt>
                <c:pt idx="59">
                  <c:v>4.1521115211152111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23-4BE4-B61B-2D13C91361E2}"/>
            </c:ext>
          </c:extLst>
        </c:ser>
        <c:ser>
          <c:idx val="1"/>
          <c:order val="1"/>
          <c:tx>
            <c:strRef>
              <c:f>'Q-6 I Subjective'!$D$7</c:f>
              <c:strCache>
                <c:ptCount val="1"/>
                <c:pt idx="0">
                  <c:v>Average of Resolution Time (Days)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'Q-6 I Subjective'!$B$8:$B$68</c:f>
              <c:strCache>
                <c:ptCount val="60"/>
                <c:pt idx="0">
                  <c:v>Apr-2016</c:v>
                </c:pt>
                <c:pt idx="1">
                  <c:v>Apr-2017</c:v>
                </c:pt>
                <c:pt idx="2">
                  <c:v>Apr-2018</c:v>
                </c:pt>
                <c:pt idx="3">
                  <c:v>Apr-2019</c:v>
                </c:pt>
                <c:pt idx="4">
                  <c:v>Apr-2020</c:v>
                </c:pt>
                <c:pt idx="5">
                  <c:v>Aug-2016</c:v>
                </c:pt>
                <c:pt idx="6">
                  <c:v>Aug-2017</c:v>
                </c:pt>
                <c:pt idx="7">
                  <c:v>Aug-2018</c:v>
                </c:pt>
                <c:pt idx="8">
                  <c:v>Aug-2019</c:v>
                </c:pt>
                <c:pt idx="9">
                  <c:v>Aug-2020</c:v>
                </c:pt>
                <c:pt idx="10">
                  <c:v>Dec-2016</c:v>
                </c:pt>
                <c:pt idx="11">
                  <c:v>Dec-2017</c:v>
                </c:pt>
                <c:pt idx="12">
                  <c:v>Dec-2018</c:v>
                </c:pt>
                <c:pt idx="13">
                  <c:v>Dec-2019</c:v>
                </c:pt>
                <c:pt idx="14">
                  <c:v>Dec-2020</c:v>
                </c:pt>
                <c:pt idx="15">
                  <c:v>Feb-2016</c:v>
                </c:pt>
                <c:pt idx="16">
                  <c:v>Feb-2017</c:v>
                </c:pt>
                <c:pt idx="17">
                  <c:v>Feb-2018</c:v>
                </c:pt>
                <c:pt idx="18">
                  <c:v>Feb-2019</c:v>
                </c:pt>
                <c:pt idx="19">
                  <c:v>Feb-2020</c:v>
                </c:pt>
                <c:pt idx="20">
                  <c:v>Jan-2016</c:v>
                </c:pt>
                <c:pt idx="21">
                  <c:v>Jan-2017</c:v>
                </c:pt>
                <c:pt idx="22">
                  <c:v>Jan-2018</c:v>
                </c:pt>
                <c:pt idx="23">
                  <c:v>Jan-2019</c:v>
                </c:pt>
                <c:pt idx="24">
                  <c:v>Jan-2020</c:v>
                </c:pt>
                <c:pt idx="25">
                  <c:v>Jul-2016</c:v>
                </c:pt>
                <c:pt idx="26">
                  <c:v>Jul-2017</c:v>
                </c:pt>
                <c:pt idx="27">
                  <c:v>Jul-2018</c:v>
                </c:pt>
                <c:pt idx="28">
                  <c:v>Jul-2019</c:v>
                </c:pt>
                <c:pt idx="29">
                  <c:v>Jul-2020</c:v>
                </c:pt>
                <c:pt idx="30">
                  <c:v>Jun-2016</c:v>
                </c:pt>
                <c:pt idx="31">
                  <c:v>Jun-2017</c:v>
                </c:pt>
                <c:pt idx="32">
                  <c:v>Jun-2018</c:v>
                </c:pt>
                <c:pt idx="33">
                  <c:v>Jun-2019</c:v>
                </c:pt>
                <c:pt idx="34">
                  <c:v>Jun-2020</c:v>
                </c:pt>
                <c:pt idx="35">
                  <c:v>Mar-2016</c:v>
                </c:pt>
                <c:pt idx="36">
                  <c:v>Mar-2017</c:v>
                </c:pt>
                <c:pt idx="37">
                  <c:v>Mar-2018</c:v>
                </c:pt>
                <c:pt idx="38">
                  <c:v>Mar-2019</c:v>
                </c:pt>
                <c:pt idx="39">
                  <c:v>Mar-2020</c:v>
                </c:pt>
                <c:pt idx="40">
                  <c:v>May-2016</c:v>
                </c:pt>
                <c:pt idx="41">
                  <c:v>May-2017</c:v>
                </c:pt>
                <c:pt idx="42">
                  <c:v>May-2018</c:v>
                </c:pt>
                <c:pt idx="43">
                  <c:v>May-2019</c:v>
                </c:pt>
                <c:pt idx="44">
                  <c:v>May-2020</c:v>
                </c:pt>
                <c:pt idx="45">
                  <c:v>Nov-2016</c:v>
                </c:pt>
                <c:pt idx="46">
                  <c:v>Nov-2017</c:v>
                </c:pt>
                <c:pt idx="47">
                  <c:v>Nov-2018</c:v>
                </c:pt>
                <c:pt idx="48">
                  <c:v>Nov-2019</c:v>
                </c:pt>
                <c:pt idx="49">
                  <c:v>Nov-2020</c:v>
                </c:pt>
                <c:pt idx="50">
                  <c:v>Oct-2016</c:v>
                </c:pt>
                <c:pt idx="51">
                  <c:v>Oct-2017</c:v>
                </c:pt>
                <c:pt idx="52">
                  <c:v>Oct-2018</c:v>
                </c:pt>
                <c:pt idx="53">
                  <c:v>Oct-2019</c:v>
                </c:pt>
                <c:pt idx="54">
                  <c:v>Oct-2020</c:v>
                </c:pt>
                <c:pt idx="55">
                  <c:v>Sep-2016</c:v>
                </c:pt>
                <c:pt idx="56">
                  <c:v>Sep-2017</c:v>
                </c:pt>
                <c:pt idx="57">
                  <c:v>Sep-2018</c:v>
                </c:pt>
                <c:pt idx="58">
                  <c:v>Sep-2019</c:v>
                </c:pt>
                <c:pt idx="59">
                  <c:v>Sep-2020</c:v>
                </c:pt>
              </c:strCache>
            </c:strRef>
          </c:cat>
          <c:val>
            <c:numRef>
              <c:f>'Q-6 I Subjective'!$D$8:$D$68</c:f>
              <c:numCache>
                <c:formatCode>General</c:formatCode>
                <c:ptCount val="60"/>
                <c:pt idx="0">
                  <c:v>4.5815939278937385</c:v>
                </c:pt>
                <c:pt idx="1">
                  <c:v>4.5068273092369475</c:v>
                </c:pt>
                <c:pt idx="2">
                  <c:v>4.6410571604179474</c:v>
                </c:pt>
                <c:pt idx="3">
                  <c:v>4.5043804755944929</c:v>
                </c:pt>
                <c:pt idx="4">
                  <c:v>4.5681723995026937</c:v>
                </c:pt>
                <c:pt idx="5">
                  <c:v>4.4486238532110089</c:v>
                </c:pt>
                <c:pt idx="6">
                  <c:v>4.725178713264496</c:v>
                </c:pt>
                <c:pt idx="7">
                  <c:v>4.3702816057519476</c:v>
                </c:pt>
                <c:pt idx="8">
                  <c:v>4.5317585301837271</c:v>
                </c:pt>
                <c:pt idx="9">
                  <c:v>4.4816835541699147</c:v>
                </c:pt>
                <c:pt idx="10">
                  <c:v>4.4448398576512451</c:v>
                </c:pt>
                <c:pt idx="11">
                  <c:v>4.4216388225934766</c:v>
                </c:pt>
                <c:pt idx="12">
                  <c:v>4.640025990903184</c:v>
                </c:pt>
                <c:pt idx="13">
                  <c:v>4.5160256410256414</c:v>
                </c:pt>
                <c:pt idx="14">
                  <c:v>4.640858566500575</c:v>
                </c:pt>
                <c:pt idx="15">
                  <c:v>4.5965909090909092</c:v>
                </c:pt>
                <c:pt idx="16">
                  <c:v>4.4995655951346656</c:v>
                </c:pt>
                <c:pt idx="17">
                  <c:v>4.5494359654943599</c:v>
                </c:pt>
                <c:pt idx="18">
                  <c:v>4.6529209621993131</c:v>
                </c:pt>
                <c:pt idx="19">
                  <c:v>4.5977058582548134</c:v>
                </c:pt>
                <c:pt idx="20">
                  <c:v>4.565022421524664</c:v>
                </c:pt>
                <c:pt idx="21">
                  <c:v>4.7795555555555556</c:v>
                </c:pt>
                <c:pt idx="22">
                  <c:v>4.4577191621411947</c:v>
                </c:pt>
                <c:pt idx="23">
                  <c:v>4.5624178712220766</c:v>
                </c:pt>
                <c:pt idx="24">
                  <c:v>4.5554541305340024</c:v>
                </c:pt>
                <c:pt idx="25">
                  <c:v>4.6857402361489555</c:v>
                </c:pt>
                <c:pt idx="26">
                  <c:v>4.4014598540145986</c:v>
                </c:pt>
                <c:pt idx="27">
                  <c:v>4.5370370370370372</c:v>
                </c:pt>
                <c:pt idx="28">
                  <c:v>4.4859416445623346</c:v>
                </c:pt>
                <c:pt idx="29">
                  <c:v>4.6450022411474672</c:v>
                </c:pt>
                <c:pt idx="30">
                  <c:v>4.59372026641294</c:v>
                </c:pt>
                <c:pt idx="31">
                  <c:v>4.502411575562701</c:v>
                </c:pt>
                <c:pt idx="32">
                  <c:v>4.6823671497584538</c:v>
                </c:pt>
                <c:pt idx="33">
                  <c:v>4.5785714285714283</c:v>
                </c:pt>
                <c:pt idx="34">
                  <c:v>4.6801687763713078</c:v>
                </c:pt>
                <c:pt idx="35">
                  <c:v>4.4823529411764707</c:v>
                </c:pt>
                <c:pt idx="36">
                  <c:v>4.4247856586126266</c:v>
                </c:pt>
                <c:pt idx="37">
                  <c:v>4.6340136054421768</c:v>
                </c:pt>
                <c:pt idx="38">
                  <c:v>4.4544962080173347</c:v>
                </c:pt>
                <c:pt idx="39">
                  <c:v>4.687797147385103</c:v>
                </c:pt>
                <c:pt idx="40">
                  <c:v>4.6836206896551724</c:v>
                </c:pt>
                <c:pt idx="41">
                  <c:v>4.4981412639405205</c:v>
                </c:pt>
                <c:pt idx="42">
                  <c:v>4.6291591046581972</c:v>
                </c:pt>
                <c:pt idx="43">
                  <c:v>4.4186851211072664</c:v>
                </c:pt>
                <c:pt idx="44">
                  <c:v>4.5966801256168681</c:v>
                </c:pt>
                <c:pt idx="45">
                  <c:v>4.5353728489483744</c:v>
                </c:pt>
                <c:pt idx="46">
                  <c:v>4.6484312148028959</c:v>
                </c:pt>
                <c:pt idx="47">
                  <c:v>4.4600246002460029</c:v>
                </c:pt>
                <c:pt idx="48">
                  <c:v>4.410158383397051</c:v>
                </c:pt>
                <c:pt idx="49">
                  <c:v>4.5207336523125994</c:v>
                </c:pt>
                <c:pt idx="50">
                  <c:v>4.5110294117647056</c:v>
                </c:pt>
                <c:pt idx="51">
                  <c:v>4.5195402298850578</c:v>
                </c:pt>
                <c:pt idx="52">
                  <c:v>4.5024096385542167</c:v>
                </c:pt>
                <c:pt idx="53">
                  <c:v>4.6688000000000001</c:v>
                </c:pt>
                <c:pt idx="54">
                  <c:v>4.5687573042462022</c:v>
                </c:pt>
                <c:pt idx="55">
                  <c:v>4.4882186616399622</c:v>
                </c:pt>
                <c:pt idx="56">
                  <c:v>4.4579591836734691</c:v>
                </c:pt>
                <c:pt idx="57">
                  <c:v>4.5927960927960925</c:v>
                </c:pt>
                <c:pt idx="58">
                  <c:v>4.4698275862068968</c:v>
                </c:pt>
                <c:pt idx="59">
                  <c:v>4.4940549405494057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23-4BE4-B61B-2D13C91361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90825680"/>
        <c:axId val="1490827120"/>
      </c:lineChart>
      <c:catAx>
        <c:axId val="149082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827120"/>
        <c:crosses val="autoZero"/>
        <c:auto val="1"/>
        <c:lblAlgn val="ctr"/>
        <c:lblOffset val="100"/>
        <c:noMultiLvlLbl val="0"/>
      </c:catAx>
      <c:valAx>
        <c:axId val="1490827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82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 cap="flat" cmpd="sng" algn="ctr">
      <a:solidFill>
        <a:srgbClr val="00206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final.xlsx]Q-9 I Subjective!PivotTable14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Count</a:t>
            </a:r>
            <a:r>
              <a:rPr lang="en-IN" b="1" baseline="0" dirty="0">
                <a:solidFill>
                  <a:srgbClr val="002060"/>
                </a:solidFill>
              </a:rPr>
              <a:t> of ticket IDs by time</a:t>
            </a:r>
            <a:endParaRPr lang="en-IN" b="1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'Q-9 I Subjective'!$C$7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'Q-9 I Subjective'!$B$8:$B$68</c:f>
              <c:strCache>
                <c:ptCount val="60"/>
                <c:pt idx="0">
                  <c:v>Apr-2016</c:v>
                </c:pt>
                <c:pt idx="1">
                  <c:v>Apr-2017</c:v>
                </c:pt>
                <c:pt idx="2">
                  <c:v>Apr-2018</c:v>
                </c:pt>
                <c:pt idx="3">
                  <c:v>Apr-2019</c:v>
                </c:pt>
                <c:pt idx="4">
                  <c:v>Apr-2020</c:v>
                </c:pt>
                <c:pt idx="5">
                  <c:v>Aug-2016</c:v>
                </c:pt>
                <c:pt idx="6">
                  <c:v>Aug-2017</c:v>
                </c:pt>
                <c:pt idx="7">
                  <c:v>Aug-2018</c:v>
                </c:pt>
                <c:pt idx="8">
                  <c:v>Aug-2019</c:v>
                </c:pt>
                <c:pt idx="9">
                  <c:v>Aug-2020</c:v>
                </c:pt>
                <c:pt idx="10">
                  <c:v>Dec-2016</c:v>
                </c:pt>
                <c:pt idx="11">
                  <c:v>Dec-2017</c:v>
                </c:pt>
                <c:pt idx="12">
                  <c:v>Dec-2018</c:v>
                </c:pt>
                <c:pt idx="13">
                  <c:v>Dec-2019</c:v>
                </c:pt>
                <c:pt idx="14">
                  <c:v>Dec-2020</c:v>
                </c:pt>
                <c:pt idx="15">
                  <c:v>Feb-2016</c:v>
                </c:pt>
                <c:pt idx="16">
                  <c:v>Feb-2017</c:v>
                </c:pt>
                <c:pt idx="17">
                  <c:v>Feb-2018</c:v>
                </c:pt>
                <c:pt idx="18">
                  <c:v>Feb-2019</c:v>
                </c:pt>
                <c:pt idx="19">
                  <c:v>Feb-2020</c:v>
                </c:pt>
                <c:pt idx="20">
                  <c:v>Jan-2016</c:v>
                </c:pt>
                <c:pt idx="21">
                  <c:v>Jan-2017</c:v>
                </c:pt>
                <c:pt idx="22">
                  <c:v>Jan-2018</c:v>
                </c:pt>
                <c:pt idx="23">
                  <c:v>Jan-2019</c:v>
                </c:pt>
                <c:pt idx="24">
                  <c:v>Jan-2020</c:v>
                </c:pt>
                <c:pt idx="25">
                  <c:v>Jul-2016</c:v>
                </c:pt>
                <c:pt idx="26">
                  <c:v>Jul-2017</c:v>
                </c:pt>
                <c:pt idx="27">
                  <c:v>Jul-2018</c:v>
                </c:pt>
                <c:pt idx="28">
                  <c:v>Jul-2019</c:v>
                </c:pt>
                <c:pt idx="29">
                  <c:v>Jul-2020</c:v>
                </c:pt>
                <c:pt idx="30">
                  <c:v>Jun-2016</c:v>
                </c:pt>
                <c:pt idx="31">
                  <c:v>Jun-2017</c:v>
                </c:pt>
                <c:pt idx="32">
                  <c:v>Jun-2018</c:v>
                </c:pt>
                <c:pt idx="33">
                  <c:v>Jun-2019</c:v>
                </c:pt>
                <c:pt idx="34">
                  <c:v>Jun-2020</c:v>
                </c:pt>
                <c:pt idx="35">
                  <c:v>Mar-2016</c:v>
                </c:pt>
                <c:pt idx="36">
                  <c:v>Mar-2017</c:v>
                </c:pt>
                <c:pt idx="37">
                  <c:v>Mar-2018</c:v>
                </c:pt>
                <c:pt idx="38">
                  <c:v>Mar-2019</c:v>
                </c:pt>
                <c:pt idx="39">
                  <c:v>Mar-2020</c:v>
                </c:pt>
                <c:pt idx="40">
                  <c:v>May-2016</c:v>
                </c:pt>
                <c:pt idx="41">
                  <c:v>May-2017</c:v>
                </c:pt>
                <c:pt idx="42">
                  <c:v>May-2018</c:v>
                </c:pt>
                <c:pt idx="43">
                  <c:v>May-2019</c:v>
                </c:pt>
                <c:pt idx="44">
                  <c:v>May-2020</c:v>
                </c:pt>
                <c:pt idx="45">
                  <c:v>Nov-2016</c:v>
                </c:pt>
                <c:pt idx="46">
                  <c:v>Nov-2017</c:v>
                </c:pt>
                <c:pt idx="47">
                  <c:v>Nov-2018</c:v>
                </c:pt>
                <c:pt idx="48">
                  <c:v>Nov-2019</c:v>
                </c:pt>
                <c:pt idx="49">
                  <c:v>Nov-2020</c:v>
                </c:pt>
                <c:pt idx="50">
                  <c:v>Oct-2016</c:v>
                </c:pt>
                <c:pt idx="51">
                  <c:v>Oct-2017</c:v>
                </c:pt>
                <c:pt idx="52">
                  <c:v>Oct-2018</c:v>
                </c:pt>
                <c:pt idx="53">
                  <c:v>Oct-2019</c:v>
                </c:pt>
                <c:pt idx="54">
                  <c:v>Oct-2020</c:v>
                </c:pt>
                <c:pt idx="55">
                  <c:v>Sep-2016</c:v>
                </c:pt>
                <c:pt idx="56">
                  <c:v>Sep-2017</c:v>
                </c:pt>
                <c:pt idx="57">
                  <c:v>Sep-2018</c:v>
                </c:pt>
                <c:pt idx="58">
                  <c:v>Sep-2019</c:v>
                </c:pt>
                <c:pt idx="59">
                  <c:v>Sep-2020</c:v>
                </c:pt>
              </c:strCache>
            </c:strRef>
          </c:cat>
          <c:val>
            <c:numRef>
              <c:f>'Q-9 I Subjective'!$C$8:$C$68</c:f>
              <c:numCache>
                <c:formatCode>General</c:formatCode>
                <c:ptCount val="60"/>
                <c:pt idx="0">
                  <c:v>1054</c:v>
                </c:pt>
                <c:pt idx="1">
                  <c:v>1245</c:v>
                </c:pt>
                <c:pt idx="2">
                  <c:v>1627</c:v>
                </c:pt>
                <c:pt idx="3">
                  <c:v>1598</c:v>
                </c:pt>
                <c:pt idx="4">
                  <c:v>2413</c:v>
                </c:pt>
                <c:pt idx="5">
                  <c:v>1090</c:v>
                </c:pt>
                <c:pt idx="6">
                  <c:v>1259</c:v>
                </c:pt>
                <c:pt idx="7">
                  <c:v>1669</c:v>
                </c:pt>
                <c:pt idx="8">
                  <c:v>1905</c:v>
                </c:pt>
                <c:pt idx="9">
                  <c:v>2566</c:v>
                </c:pt>
                <c:pt idx="10">
                  <c:v>1124</c:v>
                </c:pt>
                <c:pt idx="11">
                  <c:v>1257</c:v>
                </c:pt>
                <c:pt idx="12">
                  <c:v>1539</c:v>
                </c:pt>
                <c:pt idx="13">
                  <c:v>1872</c:v>
                </c:pt>
                <c:pt idx="14">
                  <c:v>2609</c:v>
                </c:pt>
                <c:pt idx="15">
                  <c:v>1056</c:v>
                </c:pt>
                <c:pt idx="16">
                  <c:v>1151</c:v>
                </c:pt>
                <c:pt idx="17">
                  <c:v>1507</c:v>
                </c:pt>
                <c:pt idx="18">
                  <c:v>1746</c:v>
                </c:pt>
                <c:pt idx="19">
                  <c:v>2441</c:v>
                </c:pt>
                <c:pt idx="20">
                  <c:v>1115</c:v>
                </c:pt>
                <c:pt idx="21">
                  <c:v>1125</c:v>
                </c:pt>
                <c:pt idx="22">
                  <c:v>1289</c:v>
                </c:pt>
                <c:pt idx="23">
                  <c:v>1522</c:v>
                </c:pt>
                <c:pt idx="24">
                  <c:v>2191</c:v>
                </c:pt>
                <c:pt idx="25">
                  <c:v>1101</c:v>
                </c:pt>
                <c:pt idx="26">
                  <c:v>1233</c:v>
                </c:pt>
                <c:pt idx="27">
                  <c:v>1620</c:v>
                </c:pt>
                <c:pt idx="28">
                  <c:v>1885</c:v>
                </c:pt>
                <c:pt idx="29">
                  <c:v>2231</c:v>
                </c:pt>
                <c:pt idx="30">
                  <c:v>1051</c:v>
                </c:pt>
                <c:pt idx="31">
                  <c:v>1244</c:v>
                </c:pt>
                <c:pt idx="32">
                  <c:v>1656</c:v>
                </c:pt>
                <c:pt idx="33">
                  <c:v>1820</c:v>
                </c:pt>
                <c:pt idx="34">
                  <c:v>2370</c:v>
                </c:pt>
                <c:pt idx="35">
                  <c:v>1105</c:v>
                </c:pt>
                <c:pt idx="36">
                  <c:v>1283</c:v>
                </c:pt>
                <c:pt idx="37">
                  <c:v>1470</c:v>
                </c:pt>
                <c:pt idx="38">
                  <c:v>1846</c:v>
                </c:pt>
                <c:pt idx="39">
                  <c:v>2524</c:v>
                </c:pt>
                <c:pt idx="40">
                  <c:v>1160</c:v>
                </c:pt>
                <c:pt idx="41">
                  <c:v>1345</c:v>
                </c:pt>
                <c:pt idx="42">
                  <c:v>1653</c:v>
                </c:pt>
                <c:pt idx="43">
                  <c:v>1734</c:v>
                </c:pt>
                <c:pt idx="44">
                  <c:v>2229</c:v>
                </c:pt>
                <c:pt idx="45">
                  <c:v>1046</c:v>
                </c:pt>
                <c:pt idx="46">
                  <c:v>1243</c:v>
                </c:pt>
                <c:pt idx="47">
                  <c:v>1626</c:v>
                </c:pt>
                <c:pt idx="48">
                  <c:v>1831</c:v>
                </c:pt>
                <c:pt idx="49">
                  <c:v>2508</c:v>
                </c:pt>
                <c:pt idx="50">
                  <c:v>1088</c:v>
                </c:pt>
                <c:pt idx="51">
                  <c:v>1305</c:v>
                </c:pt>
                <c:pt idx="52">
                  <c:v>1660</c:v>
                </c:pt>
                <c:pt idx="53">
                  <c:v>1875</c:v>
                </c:pt>
                <c:pt idx="54">
                  <c:v>2567</c:v>
                </c:pt>
                <c:pt idx="55">
                  <c:v>1061</c:v>
                </c:pt>
                <c:pt idx="56">
                  <c:v>1225</c:v>
                </c:pt>
                <c:pt idx="57">
                  <c:v>1638</c:v>
                </c:pt>
                <c:pt idx="58">
                  <c:v>1856</c:v>
                </c:pt>
                <c:pt idx="59">
                  <c:v>2439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9B-4847-BD1B-ECCBB04513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90815120"/>
        <c:axId val="1490818480"/>
      </c:lineChart>
      <c:catAx>
        <c:axId val="149081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818480"/>
        <c:crosses val="autoZero"/>
        <c:auto val="1"/>
        <c:lblAlgn val="ctr"/>
        <c:lblOffset val="100"/>
        <c:noMultiLvlLbl val="0"/>
      </c:catAx>
      <c:valAx>
        <c:axId val="149081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815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 cap="flat" cmpd="sng" algn="ctr">
      <a:solidFill>
        <a:srgbClr val="00206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final.xlsx]Dashboard!PivotTable1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Average</a:t>
            </a:r>
            <a:r>
              <a:rPr lang="en-IN" b="1" baseline="0" dirty="0">
                <a:solidFill>
                  <a:srgbClr val="002060"/>
                </a:solidFill>
              </a:rPr>
              <a:t> resolution time by request category, quarter-wise</a:t>
            </a:r>
            <a:endParaRPr lang="en-IN" b="1" dirty="0">
              <a:solidFill>
                <a:srgbClr val="002060"/>
              </a:solidFill>
            </a:endParaRPr>
          </a:p>
        </c:rich>
      </c:tx>
      <c:layout>
        <c:manualLayout>
          <c:xMode val="edge"/>
          <c:yMode val="edge"/>
          <c:x val="0.17828882592522469"/>
          <c:y val="1.951721029909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Dashboard!$J$286:$J$287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Dashboard!$I$288:$I$292</c:f>
              <c:strCache>
                <c:ptCount val="4"/>
                <c:pt idx="0">
                  <c:v>Qtr1</c:v>
                </c:pt>
                <c:pt idx="1">
                  <c:v>Qtr2</c:v>
                </c:pt>
                <c:pt idx="2">
                  <c:v>Qtr3</c:v>
                </c:pt>
                <c:pt idx="3">
                  <c:v>Qtr4</c:v>
                </c:pt>
              </c:strCache>
            </c:strRef>
          </c:cat>
          <c:val>
            <c:numRef>
              <c:f>Dashboard!$J$288:$J$292</c:f>
              <c:numCache>
                <c:formatCode>General</c:formatCode>
                <c:ptCount val="4"/>
                <c:pt idx="0">
                  <c:v>7.7437185929648242</c:v>
                </c:pt>
                <c:pt idx="1">
                  <c:v>7.6847290640394093</c:v>
                </c:pt>
                <c:pt idx="2">
                  <c:v>7.5285714285714285</c:v>
                </c:pt>
                <c:pt idx="3">
                  <c:v>7.5481903212688088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C6-427A-B4E4-46C4F768AB14}"/>
            </c:ext>
          </c:extLst>
        </c:ser>
        <c:ser>
          <c:idx val="1"/>
          <c:order val="1"/>
          <c:tx>
            <c:strRef>
              <c:f>Dashboard!$K$286:$K$287</c:f>
              <c:strCache>
                <c:ptCount val="1"/>
                <c:pt idx="0">
                  <c:v>Login Access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Dashboard!$I$288:$I$292</c:f>
              <c:strCache>
                <c:ptCount val="4"/>
                <c:pt idx="0">
                  <c:v>Qtr1</c:v>
                </c:pt>
                <c:pt idx="1">
                  <c:v>Qtr2</c:v>
                </c:pt>
                <c:pt idx="2">
                  <c:v>Qtr3</c:v>
                </c:pt>
                <c:pt idx="3">
                  <c:v>Qtr4</c:v>
                </c:pt>
              </c:strCache>
            </c:strRef>
          </c:cat>
          <c:val>
            <c:numRef>
              <c:f>Dashboard!$K$288:$K$292</c:f>
              <c:numCache>
                <c:formatCode>General</c:formatCode>
                <c:ptCount val="4"/>
                <c:pt idx="0">
                  <c:v>0.30982295830953743</c:v>
                </c:pt>
                <c:pt idx="1">
                  <c:v>0.32385814819925485</c:v>
                </c:pt>
                <c:pt idx="2">
                  <c:v>0.31265239772419401</c:v>
                </c:pt>
                <c:pt idx="3">
                  <c:v>0.30899470899470899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C6-427A-B4E4-46C4F768AB14}"/>
            </c:ext>
          </c:extLst>
        </c:ser>
        <c:ser>
          <c:idx val="2"/>
          <c:order val="2"/>
          <c:tx>
            <c:strRef>
              <c:f>Dashboard!$L$286:$L$287</c:f>
              <c:strCache>
                <c:ptCount val="1"/>
                <c:pt idx="0">
                  <c:v>Software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Dashboard!$I$288:$I$292</c:f>
              <c:strCache>
                <c:ptCount val="4"/>
                <c:pt idx="0">
                  <c:v>Qtr1</c:v>
                </c:pt>
                <c:pt idx="1">
                  <c:v>Qtr2</c:v>
                </c:pt>
                <c:pt idx="2">
                  <c:v>Qtr3</c:v>
                </c:pt>
                <c:pt idx="3">
                  <c:v>Qtr4</c:v>
                </c:pt>
              </c:strCache>
            </c:strRef>
          </c:cat>
          <c:val>
            <c:numRef>
              <c:f>Dashboard!$L$288:$L$292</c:f>
              <c:numCache>
                <c:formatCode>General</c:formatCode>
                <c:ptCount val="4"/>
                <c:pt idx="0">
                  <c:v>5.2396186440677965</c:v>
                </c:pt>
                <c:pt idx="1">
                  <c:v>5.2590348861499896</c:v>
                </c:pt>
                <c:pt idx="2">
                  <c:v>5.1592673700975515</c:v>
                </c:pt>
                <c:pt idx="3">
                  <c:v>5.2978174603174599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6-427A-B4E4-46C4F768AB14}"/>
            </c:ext>
          </c:extLst>
        </c:ser>
        <c:ser>
          <c:idx val="3"/>
          <c:order val="3"/>
          <c:tx>
            <c:strRef>
              <c:f>Dashboard!$M$286:$M$287</c:f>
              <c:strCache>
                <c:ptCount val="1"/>
                <c:pt idx="0">
                  <c:v>System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Dashboard!$I$288:$I$292</c:f>
              <c:strCache>
                <c:ptCount val="4"/>
                <c:pt idx="0">
                  <c:v>Qtr1</c:v>
                </c:pt>
                <c:pt idx="1">
                  <c:v>Qtr2</c:v>
                </c:pt>
                <c:pt idx="2">
                  <c:v>Qtr3</c:v>
                </c:pt>
                <c:pt idx="3">
                  <c:v>Qtr4</c:v>
                </c:pt>
              </c:strCache>
            </c:strRef>
          </c:cat>
          <c:val>
            <c:numRef>
              <c:f>Dashboard!$M$288:$M$292</c:f>
              <c:numCache>
                <c:formatCode>General</c:formatCode>
                <c:ptCount val="4"/>
                <c:pt idx="0">
                  <c:v>6.6398099146776106</c:v>
                </c:pt>
                <c:pt idx="1">
                  <c:v>6.642100935347929</c:v>
                </c:pt>
                <c:pt idx="2">
                  <c:v>6.5821828076186639</c:v>
                </c:pt>
                <c:pt idx="3">
                  <c:v>6.600733326726786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8C6-427A-B4E4-46C4F768A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750783"/>
        <c:axId val="158396751"/>
      </c:barChart>
      <c:catAx>
        <c:axId val="162750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396751"/>
        <c:crosses val="autoZero"/>
        <c:auto val="1"/>
        <c:lblAlgn val="ctr"/>
        <c:lblOffset val="100"/>
        <c:noMultiLvlLbl val="0"/>
      </c:catAx>
      <c:valAx>
        <c:axId val="158396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5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>
      <a:solidFill>
        <a:srgbClr val="00206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final.xlsx]Dashboard!PivotTable2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Ticket</a:t>
            </a:r>
            <a:r>
              <a:rPr lang="en-IN" b="1" baseline="0" dirty="0">
                <a:solidFill>
                  <a:srgbClr val="002060"/>
                </a:solidFill>
              </a:rPr>
              <a:t> by severity rate</a:t>
            </a:r>
            <a:endParaRPr lang="en-IN" b="1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Dashboard!$O$304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Dashboard!$N$305:$N$310</c:f>
              <c:strCache>
                <c:ptCount val="5"/>
                <c:pt idx="0">
                  <c:v>0 - Unclasified</c:v>
                </c:pt>
                <c:pt idx="1">
                  <c:v>1 - Minor</c:v>
                </c:pt>
                <c:pt idx="2">
                  <c:v>2 - Normal</c:v>
                </c:pt>
                <c:pt idx="3">
                  <c:v>3 - Mayor</c:v>
                </c:pt>
                <c:pt idx="4">
                  <c:v>4 - Urgent</c:v>
                </c:pt>
              </c:strCache>
            </c:strRef>
          </c:cat>
          <c:val>
            <c:numRef>
              <c:f>Dashboard!$O$305:$O$310</c:f>
              <c:numCache>
                <c:formatCode>General</c:formatCode>
                <c:ptCount val="5"/>
                <c:pt idx="0">
                  <c:v>356</c:v>
                </c:pt>
                <c:pt idx="1">
                  <c:v>2258</c:v>
                </c:pt>
                <c:pt idx="2">
                  <c:v>88656</c:v>
                </c:pt>
                <c:pt idx="3">
                  <c:v>4836</c:v>
                </c:pt>
                <c:pt idx="4">
                  <c:v>1392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D7-4264-A374-0E09D912BD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9309935"/>
        <c:axId val="499302735"/>
      </c:barChart>
      <c:catAx>
        <c:axId val="4993099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9302735"/>
        <c:crosses val="autoZero"/>
        <c:auto val="1"/>
        <c:lblAlgn val="ctr"/>
        <c:lblOffset val="100"/>
        <c:noMultiLvlLbl val="0"/>
      </c:catAx>
      <c:valAx>
        <c:axId val="499302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93099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>
      <a:solidFill>
        <a:srgbClr val="00206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final.xlsx]Dashboard!PivotTable4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Distribution</a:t>
            </a:r>
            <a:r>
              <a:rPr lang="en-IN" b="1" baseline="0" dirty="0">
                <a:solidFill>
                  <a:srgbClr val="002060"/>
                </a:solidFill>
              </a:rPr>
              <a:t> of tickets based on resolution time</a:t>
            </a:r>
            <a:endParaRPr lang="en-IN" b="1" dirty="0">
              <a:solidFill>
                <a:srgbClr val="002060"/>
              </a:solidFill>
            </a:endParaRPr>
          </a:p>
        </c:rich>
      </c:tx>
      <c:layout>
        <c:manualLayout>
          <c:xMode val="edge"/>
          <c:yMode val="edge"/>
          <c:x val="0.18927813604008109"/>
          <c:y val="2.14621558397554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Dashboard!$W$290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Dashboard!$V$291:$V$313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strCache>
            </c:strRef>
          </c:cat>
          <c:val>
            <c:numRef>
              <c:f>Dashboard!$W$291:$W$313</c:f>
              <c:numCache>
                <c:formatCode>General</c:formatCode>
                <c:ptCount val="22"/>
                <c:pt idx="0">
                  <c:v>25071</c:v>
                </c:pt>
                <c:pt idx="1">
                  <c:v>9277</c:v>
                </c:pt>
                <c:pt idx="2">
                  <c:v>6466</c:v>
                </c:pt>
                <c:pt idx="3">
                  <c:v>6200</c:v>
                </c:pt>
                <c:pt idx="4">
                  <c:v>4919</c:v>
                </c:pt>
                <c:pt idx="5">
                  <c:v>8789</c:v>
                </c:pt>
                <c:pt idx="6">
                  <c:v>7802</c:v>
                </c:pt>
                <c:pt idx="7">
                  <c:v>6582</c:v>
                </c:pt>
                <c:pt idx="8">
                  <c:v>4850</c:v>
                </c:pt>
                <c:pt idx="9">
                  <c:v>3739</c:v>
                </c:pt>
                <c:pt idx="10">
                  <c:v>3899</c:v>
                </c:pt>
                <c:pt idx="11">
                  <c:v>1732</c:v>
                </c:pt>
                <c:pt idx="12">
                  <c:v>1555</c:v>
                </c:pt>
                <c:pt idx="13">
                  <c:v>1712</c:v>
                </c:pt>
                <c:pt idx="14">
                  <c:v>1566</c:v>
                </c:pt>
                <c:pt idx="15">
                  <c:v>1360</c:v>
                </c:pt>
                <c:pt idx="16">
                  <c:v>1167</c:v>
                </c:pt>
                <c:pt idx="17">
                  <c:v>554</c:v>
                </c:pt>
                <c:pt idx="18">
                  <c:v>124</c:v>
                </c:pt>
                <c:pt idx="19">
                  <c:v>130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A0-45D0-8D44-FE4137007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6555935"/>
        <c:axId val="466555455"/>
      </c:barChart>
      <c:catAx>
        <c:axId val="4665559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555455"/>
        <c:crosses val="autoZero"/>
        <c:auto val="1"/>
        <c:lblAlgn val="ctr"/>
        <c:lblOffset val="100"/>
        <c:noMultiLvlLbl val="0"/>
      </c:catAx>
      <c:valAx>
        <c:axId val="4665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5559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>
      <a:solidFill>
        <a:srgbClr val="00206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(IT tickets) final.xlsx]Dashboard!PivotTable3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002060"/>
                </a:solidFill>
              </a:rPr>
              <a:t>Distribution</a:t>
            </a:r>
            <a:r>
              <a:rPr lang="en-IN" b="1" baseline="0" dirty="0">
                <a:solidFill>
                  <a:srgbClr val="002060"/>
                </a:solidFill>
              </a:rPr>
              <a:t> of tickets based on satisfaction score</a:t>
            </a:r>
          </a:p>
          <a:p>
            <a:pPr>
              <a:defRPr/>
            </a:pP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Dashboard!$P$318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Dashboard!$O$319:$O$324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Dashboard!$P$319:$P$324</c:f>
              <c:numCache>
                <c:formatCode>General</c:formatCode>
                <c:ptCount val="5"/>
                <c:pt idx="0">
                  <c:v>9907</c:v>
                </c:pt>
                <c:pt idx="1">
                  <c:v>1977</c:v>
                </c:pt>
                <c:pt idx="2">
                  <c:v>7282</c:v>
                </c:pt>
                <c:pt idx="3">
                  <c:v>27562</c:v>
                </c:pt>
                <c:pt idx="4">
                  <c:v>50770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7A-4533-A2FA-0211E2ABE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3204559"/>
        <c:axId val="2133218959"/>
      </c:barChart>
      <c:catAx>
        <c:axId val="213320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3218959"/>
        <c:crosses val="autoZero"/>
        <c:auto val="1"/>
        <c:lblAlgn val="ctr"/>
        <c:lblOffset val="100"/>
        <c:noMultiLvlLbl val="0"/>
      </c:catAx>
      <c:valAx>
        <c:axId val="2133218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3204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9050">
      <a:solidFill>
        <a:srgbClr val="00206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89E7B-B5FB-435D-9103-C39D250D6C65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FE70A-DDE0-4617-B42A-6B9D2C36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8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FE70A-DDE0-4617-B42A-6B9D2C36FAE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356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FE70A-DDE0-4617-B42A-6B9D2C36FAE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9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9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5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88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1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36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264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62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5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07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65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209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8614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147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31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8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53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379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9E2F-0959-6DBF-EA75-D7ABB7F9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DE2D-26E3-DC1B-4FEF-94175504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623CD-E1BA-47AA-188D-CF5D872B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A38AC-9DDF-977F-64A9-D6BD81CD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96B9-E3C4-4692-6A94-03E39E7E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88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87E4D29-3A54-4CF8-99D3-413D5A4E44C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BFC4C6-5838-46B7-9D73-5C43DEDDC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78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9356-0621-4CAE-B9E6-588060F06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61" y="665922"/>
            <a:ext cx="5910470" cy="3201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Optimizing IT Support: A Data-Driven Analysis of Ticket Management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757FB-F63C-96D0-C751-A2EB5AF5D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384" y="4452447"/>
            <a:ext cx="5055704" cy="1511030"/>
          </a:xfrm>
        </p:spPr>
        <p:txBody>
          <a:bodyPr/>
          <a:lstStyle/>
          <a:p>
            <a:r>
              <a:rPr lang="en-IN" sz="2800" b="1" dirty="0">
                <a:solidFill>
                  <a:srgbClr val="002060"/>
                </a:solidFill>
              </a:rPr>
              <a:t>Ansh Arora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98D89-C3FE-D3E7-C6D9-969E35A2E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9" t="10424" r="8522" b="10348"/>
          <a:stretch>
            <a:fillRect/>
          </a:stretch>
        </p:blipFill>
        <p:spPr>
          <a:xfrm>
            <a:off x="6604025" y="1456267"/>
            <a:ext cx="4690507" cy="299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83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1BDC-41C6-1579-F54E-249A680C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888"/>
            <a:ext cx="10515600" cy="138574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Introduction &amp;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1A83-16D6-C353-D8BF-6774AF3B7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932495"/>
            <a:ext cx="9652626" cy="429897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 </a:t>
            </a:r>
            <a:r>
              <a:rPr lang="en-US" sz="7200" b="1" cap="none" dirty="0"/>
              <a:t>“ Did you know that inefficient IT ticketing can cost large companies millions in lost productivity? “</a:t>
            </a:r>
          </a:p>
          <a:p>
            <a:pPr marL="0" indent="0">
              <a:buNone/>
            </a:pPr>
            <a:endParaRPr lang="en-US" sz="7200" b="1" cap="none" dirty="0"/>
          </a:p>
          <a:p>
            <a:pPr marL="0" indent="0">
              <a:buNone/>
            </a:pPr>
            <a:r>
              <a:rPr lang="en-US" sz="7200" cap="none" dirty="0"/>
              <a:t> This project analyzes the it ticket management process to identify bottlenecks and opportunities for improvement.</a:t>
            </a:r>
          </a:p>
          <a:p>
            <a:r>
              <a:rPr lang="en-US" sz="7200" cap="none" dirty="0"/>
              <a:t>To evaluate the efficiency and effectiveness of the current it support team.</a:t>
            </a:r>
          </a:p>
          <a:p>
            <a:r>
              <a:rPr lang="en-US" sz="7200" cap="none" dirty="0"/>
              <a:t>To provide data-driven recommendations for strategic investment (hiring, training, or software).</a:t>
            </a:r>
          </a:p>
          <a:p>
            <a:r>
              <a:rPr lang="en-US" sz="7200" cap="none" dirty="0"/>
              <a:t>To identify key performance metrics and trends to guide future decisions.</a:t>
            </a:r>
          </a:p>
          <a:p>
            <a:pPr marL="0" indent="0">
              <a:buNone/>
            </a:pPr>
            <a:br>
              <a:rPr lang="en-US" sz="7200" cap="none" dirty="0"/>
            </a:br>
            <a:br>
              <a:rPr lang="en-US" sz="8000" cap="none" dirty="0"/>
            </a:br>
            <a:endParaRPr lang="en-IN" sz="8000" cap="none" dirty="0"/>
          </a:p>
        </p:txBody>
      </p:sp>
    </p:spTree>
    <p:extLst>
      <p:ext uri="{BB962C8B-B14F-4D97-AF65-F5344CB8AC3E}">
        <p14:creationId xmlns:p14="http://schemas.microsoft.com/office/powerpoint/2010/main" val="240299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170C-9491-7859-1307-AA29531C0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37517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Data Overview</a:t>
            </a:r>
            <a:br>
              <a:rPr lang="en-IN" b="1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EE384-13D7-409D-F832-7FF4A86DD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833694"/>
            <a:ext cx="6215159" cy="4798243"/>
          </a:xfrm>
        </p:spPr>
        <p:txBody>
          <a:bodyPr>
            <a:normAutofit/>
          </a:bodyPr>
          <a:lstStyle/>
          <a:p>
            <a:r>
              <a:rPr lang="en-US" sz="1800" cap="none" dirty="0"/>
              <a:t>The dataset comprises IT tickets and agent information over a specific period.</a:t>
            </a:r>
          </a:p>
          <a:p>
            <a:pPr lvl="1"/>
            <a:r>
              <a:rPr lang="en-US" b="1" cap="none" dirty="0"/>
              <a:t>Total tickets analyzed:</a:t>
            </a:r>
            <a:r>
              <a:rPr lang="en-US" cap="none" dirty="0"/>
              <a:t> 97498</a:t>
            </a:r>
          </a:p>
          <a:p>
            <a:pPr lvl="1"/>
            <a:r>
              <a:rPr lang="en-US" b="1" cap="none" dirty="0"/>
              <a:t>Number of IT agents:</a:t>
            </a:r>
            <a:r>
              <a:rPr lang="en-US" cap="none" dirty="0"/>
              <a:t> 50</a:t>
            </a:r>
          </a:p>
          <a:p>
            <a:pPr lvl="1"/>
            <a:r>
              <a:rPr lang="en-US" b="1" cap="none" dirty="0"/>
              <a:t>Key attributes:</a:t>
            </a:r>
            <a:r>
              <a:rPr lang="en-US" cap="none" dirty="0"/>
              <a:t> ticket ID, agent, issue category, priority, resolution time, satisfaction rating.</a:t>
            </a:r>
          </a:p>
          <a:p>
            <a:r>
              <a:rPr lang="en-US" sz="1800" b="1" cap="none" dirty="0"/>
              <a:t>Data preprocessing:</a:t>
            </a:r>
            <a:r>
              <a:rPr lang="en-US" sz="1800" cap="none" dirty="0"/>
              <a:t> mentioned steps like handling missing values in the resolution time column and extracting domains from agent emails.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468751-D9AB-A90C-7330-F1A23C883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332" y="2260599"/>
            <a:ext cx="3911601" cy="260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5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2233-B06B-1EA9-E49F-85CE0FB23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29448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Methodology</a:t>
            </a:r>
            <a:br>
              <a:rPr lang="en-IN" b="1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57E2A-AE28-5660-B28F-6642E3EB0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sz="1800" b="1" cap="none" dirty="0"/>
              <a:t>Tools:</a:t>
            </a:r>
            <a:r>
              <a:rPr lang="en-US" sz="1800" cap="none" dirty="0"/>
              <a:t> </a:t>
            </a:r>
            <a:r>
              <a:rPr lang="en-US" sz="1800" cap="none" dirty="0" err="1"/>
              <a:t>microsoft</a:t>
            </a:r>
            <a:r>
              <a:rPr lang="en-US" sz="1800" cap="none" dirty="0"/>
              <a:t> excel (pivot tables, formulas, charts).</a:t>
            </a:r>
          </a:p>
          <a:p>
            <a:r>
              <a:rPr lang="en-US" sz="1800" b="1" cap="none" dirty="0"/>
              <a:t>Analytical steps:</a:t>
            </a:r>
            <a:endParaRPr lang="en-US" sz="1800" cap="none" dirty="0"/>
          </a:p>
          <a:p>
            <a:pPr lvl="1"/>
            <a:r>
              <a:rPr lang="en-US" b="1" cap="none" dirty="0"/>
              <a:t>Data cleaning:</a:t>
            </a:r>
            <a:r>
              <a:rPr lang="en-US" cap="none" dirty="0"/>
              <a:t> identified and addressed missing/inconsistent values.</a:t>
            </a:r>
          </a:p>
          <a:p>
            <a:pPr lvl="1"/>
            <a:r>
              <a:rPr lang="en-US" b="1" cap="none" dirty="0"/>
              <a:t>Data enrichment:</a:t>
            </a:r>
            <a:r>
              <a:rPr lang="en-US" cap="none" dirty="0"/>
              <a:t> extracted email domains, calculated resolution times, and created new categorical groups.</a:t>
            </a:r>
          </a:p>
          <a:p>
            <a:pPr lvl="1"/>
            <a:r>
              <a:rPr lang="en-US" b="1" cap="none" dirty="0"/>
              <a:t>Exploratory analysis:</a:t>
            </a:r>
            <a:r>
              <a:rPr lang="en-US" cap="none" dirty="0"/>
              <a:t> used pivot tables to summarize ticket volumes, agent performance, and resolution times by category.</a:t>
            </a:r>
          </a:p>
          <a:p>
            <a:pPr lvl="1"/>
            <a:r>
              <a:rPr lang="en-US" b="1" cap="none" dirty="0"/>
              <a:t>Statistical review:</a:t>
            </a:r>
            <a:r>
              <a:rPr lang="en-US" cap="none" dirty="0"/>
              <a:t> calculated averages and correlations (</a:t>
            </a:r>
            <a:r>
              <a:rPr lang="en-US" cap="none" dirty="0" err="1"/>
              <a:t>e.G.</a:t>
            </a:r>
            <a:r>
              <a:rPr lang="en-US" cap="none" dirty="0"/>
              <a:t>, Between severity and resolution time).</a:t>
            </a:r>
          </a:p>
          <a:p>
            <a:pPr lvl="1"/>
            <a:r>
              <a:rPr lang="en-US" b="1" cap="none" dirty="0"/>
              <a:t>Dashboard creation:</a:t>
            </a:r>
            <a:r>
              <a:rPr lang="en-US" cap="none" dirty="0"/>
              <a:t> built an interactive dashboard with slicers for dynamic exploration.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76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0BF4-4255-F718-E8E2-7EA10CFD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Impact of Age Group on IT Support Performance</a:t>
            </a:r>
            <a:br>
              <a:rPr lang="en-US" b="1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E37-9D88-0702-5B36-E0386077CF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639" y="2045358"/>
            <a:ext cx="6630027" cy="44824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100" b="1" cap="none" dirty="0"/>
              <a:t>   </a:t>
            </a:r>
            <a:r>
              <a:rPr lang="en-US" sz="1800" b="1" cap="none" dirty="0"/>
              <a:t>Insights</a:t>
            </a:r>
          </a:p>
          <a:p>
            <a:r>
              <a:rPr lang="en-US" sz="1800" cap="none" dirty="0"/>
              <a:t>20–30 age group shows the highest satisfaction (~4.25) with relatively efficient resolution time (~4.5 days). 31–40 age group has the highest resolution time (~4.6 days) and comparatively lower satisfaction (~4.1). 40+ age group demonstrates stable and balanced performance across both metrics.</a:t>
            </a:r>
          </a:p>
          <a:p>
            <a:r>
              <a:rPr lang="en-US" sz="1800" cap="none" dirty="0"/>
              <a:t>Overall, the performance variation across age groups is minimal, indicating consistent service levels.</a:t>
            </a:r>
          </a:p>
          <a:p>
            <a:r>
              <a:rPr lang="en-US" sz="1800" cap="none" dirty="0"/>
              <a:t>Younger agents may excel in communication and adaptability, while experienced agents provide stability and consistency.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2477CD1-F6A9-448F-8142-6C7C53FBDD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6074984"/>
              </p:ext>
            </p:extLst>
          </p:nvPr>
        </p:nvGraphicFramePr>
        <p:xfrm>
          <a:off x="8171650" y="2567574"/>
          <a:ext cx="3512350" cy="2376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7126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B3BB-2603-B612-02E4-D63BC259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68712"/>
            <a:ext cx="10364451" cy="1596177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Ticket Distribution by Request Category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6C6B-6A4B-DAA0-A4B4-B1AF02D486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9" y="2189291"/>
            <a:ext cx="6841693" cy="39321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/>
              <a:t>    </a:t>
            </a:r>
            <a:r>
              <a:rPr lang="en-US" sz="1900" b="1" cap="none" dirty="0"/>
              <a:t>Insights</a:t>
            </a:r>
          </a:p>
          <a:p>
            <a:r>
              <a:rPr lang="en-US" sz="1900" cap="none" dirty="0"/>
              <a:t>System issues dominate with 39,002 tickets (~40%), indicating major dependency on system stability and login access issues are the second highest (29,193 ~30%), suggesting frequent authentication or access-related problems.</a:t>
            </a:r>
          </a:p>
          <a:p>
            <a:r>
              <a:rPr lang="en-US" sz="1900" cap="none" dirty="0"/>
              <a:t>Software-related tickets (19,570 ~20%) show moderate volume, indicating manageable application-level issues and hardware issues are the lowest (9,733 ~10%), implying relatively fewer physical device failures.</a:t>
            </a:r>
          </a:p>
          <a:p>
            <a:r>
              <a:rPr lang="en-US" sz="1900" cap="none" dirty="0"/>
              <a:t>Overall, ~70% of tickets come from system + login issues, highlighting key areas for improvement.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A787454-107C-44D2-A300-9507C6B3EC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3044639"/>
              </p:ext>
            </p:extLst>
          </p:nvPr>
        </p:nvGraphicFramePr>
        <p:xfrm>
          <a:off x="8161866" y="2506306"/>
          <a:ext cx="3543073" cy="2486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689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7E80-00A7-9E83-B02B-3FA351A2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02202"/>
            <a:ext cx="10364451" cy="1596177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Trend of Satisfaction Rate &amp; Resolution Time Over Time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497A4-DBBA-A664-6B91-EA4ED300B0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2311400"/>
            <a:ext cx="6951133" cy="3479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    </a:t>
            </a:r>
            <a:r>
              <a:rPr lang="en-US" sz="1800" b="1" cap="none" dirty="0"/>
              <a:t>Insights</a:t>
            </a:r>
          </a:p>
          <a:p>
            <a:r>
              <a:rPr lang="en-US" sz="1800" cap="none" dirty="0"/>
              <a:t>Satisfaction rate remains stable (~4.0 – 4.2) across the timeline, indicating consistent service quality and resolution time fluctuates slightly (~4.4 – 4.7 days) but shows no major spikes or drops.</a:t>
            </a:r>
          </a:p>
          <a:p>
            <a:r>
              <a:rPr lang="en-US" sz="1800" cap="none" dirty="0"/>
              <a:t>There is a weak inverse relationship — when resolution time increases slightly, satisfaction tends to dip.</a:t>
            </a:r>
          </a:p>
          <a:p>
            <a:r>
              <a:rPr lang="en-US" sz="1800" cap="none" dirty="0"/>
              <a:t>Seasonal peaks in ticket volume do not significantly impact satisfaction, indicating good workload handling.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83BC039-A280-4F17-B285-FE1F60BCB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576698"/>
              </p:ext>
            </p:extLst>
          </p:nvPr>
        </p:nvGraphicFramePr>
        <p:xfrm>
          <a:off x="8144934" y="2650068"/>
          <a:ext cx="3606800" cy="2599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1078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9ED4-11CE-401A-C332-7FD5119C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41637"/>
            <a:ext cx="10364451" cy="1596177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Trend of Ticket Volume Over Time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9B1F-0EC3-0DB9-4C14-B50AD2D4CB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694" y="2048934"/>
            <a:ext cx="7222065" cy="4631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   </a:t>
            </a:r>
            <a:r>
              <a:rPr lang="en-US" sz="1800" b="1" cap="none" dirty="0"/>
              <a:t>Insights</a:t>
            </a:r>
          </a:p>
          <a:p>
            <a:r>
              <a:rPr lang="en-US" sz="1800" cap="none" dirty="0"/>
              <a:t>Ticket volume shows a clear cyclical/seasonal pattern, with repeated peaks and drops over time.</a:t>
            </a:r>
          </a:p>
          <a:p>
            <a:r>
              <a:rPr lang="en-US" sz="1800" cap="none" dirty="0"/>
              <a:t>Peak ticket volume reaches ~2400–2600, indicating high-demand period slowest volume drops to ~1000–1200, showing relatively stable off-peak workload.</a:t>
            </a:r>
          </a:p>
          <a:p>
            <a:r>
              <a:rPr lang="en-US" sz="1800" cap="none" dirty="0"/>
              <a:t>The pattern suggests predictable workload cycles, likely tied to business operations or system usage periods and recurring peaks highlight the need for capacity planning and resource allocation during high-demand periods.</a:t>
            </a:r>
          </a:p>
          <a:p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F5B1A1F-10A6-47A2-9BA3-89B376D77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0435479"/>
              </p:ext>
            </p:extLst>
          </p:nvPr>
        </p:nvGraphicFramePr>
        <p:xfrm>
          <a:off x="8140274" y="2563628"/>
          <a:ext cx="3468152" cy="2568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979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D514-4B84-B0D3-C3ED-7CE851482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88961"/>
            <a:ext cx="10364451" cy="1596177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Quarterly Resolution Time by Request Category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8F20A-DD81-CCF4-5412-E649BE4A28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8907" y="1983538"/>
            <a:ext cx="6790893" cy="4772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   </a:t>
            </a:r>
            <a:r>
              <a:rPr lang="en-US" sz="1800" b="1" cap="none" dirty="0"/>
              <a:t>Insights</a:t>
            </a:r>
          </a:p>
          <a:p>
            <a:r>
              <a:rPr lang="en-US" sz="1800" cap="none" dirty="0"/>
              <a:t>Hardware requests consistently take the longest time (~7.5–7.8 days) across all quarters, indicating higher complexity or dependency on physical fixes and system-related issues (~6.5–6.7 days) are the second most time-consuming, showing moderate operational effort.</a:t>
            </a:r>
          </a:p>
          <a:p>
            <a:r>
              <a:rPr lang="en-US" sz="1800" cap="none" dirty="0"/>
              <a:t>Software tickets (~5.2–5.5 days) are resolved faster, suggesting better tools or standardized processes and login access issues are resolved the fastest (~0.2–0.4 days), highlighting highly efficient handling of access-related requests.</a:t>
            </a:r>
          </a:p>
          <a:p>
            <a:r>
              <a:rPr lang="en-US" sz="1800" cap="none" dirty="0"/>
              <a:t>Resolution time across quarters remains stable with minimal fluctuation, indicating consistent performance.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5FEA723-F7CA-427C-A8EE-55FC8DCB8F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1738202"/>
              </p:ext>
            </p:extLst>
          </p:nvPr>
        </p:nvGraphicFramePr>
        <p:xfrm>
          <a:off x="7730067" y="2549129"/>
          <a:ext cx="3903133" cy="2602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726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0282-84F4-178C-34D2-BC880E47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15317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Ticket Distribution by Severity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5F56-2176-2C9E-B215-5D3291CA59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6613093" cy="4075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cap="none" dirty="0"/>
              <a:t>    Insights</a:t>
            </a:r>
          </a:p>
          <a:p>
            <a:r>
              <a:rPr lang="en-US" sz="1800" cap="none" dirty="0"/>
              <a:t> Majority of tickets fall under “normal (2)” severity, indicating most issues are moderate and manageable and very few tickets are “urgent (4)”, which suggests critical incidents are rare.</a:t>
            </a:r>
          </a:p>
          <a:p>
            <a:r>
              <a:rPr lang="en-US" sz="1800" cap="none" dirty="0"/>
              <a:t> “Major (3)” tickets are limited, meaning high-impact issues are not frequent and  “minor (1)” tickets exist but are relatively low, indicating fewer small issues reported.</a:t>
            </a:r>
          </a:p>
          <a:p>
            <a:r>
              <a:rPr lang="en-US" sz="1800" cap="none" dirty="0"/>
              <a:t> “Unclassified (0)” tickets are almost negligible, showing good categorization practices.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99FBAF6-62ED-4416-AB7A-85A63F36A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0139307"/>
              </p:ext>
            </p:extLst>
          </p:nvPr>
        </p:nvGraphicFramePr>
        <p:xfrm>
          <a:off x="7924800" y="2540000"/>
          <a:ext cx="3615893" cy="2467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5754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00FB-089A-D1C6-CBFF-CA8E187B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89917"/>
            <a:ext cx="10364451" cy="1596177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Distribution of Tickets Based on Resolution Time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513AB-6775-E075-64BF-85C65F36EC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6409893" cy="3999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    </a:t>
            </a:r>
            <a:r>
              <a:rPr lang="en-US" sz="1800" b="1" cap="none" dirty="0"/>
              <a:t>Insights</a:t>
            </a:r>
          </a:p>
          <a:p>
            <a:r>
              <a:rPr lang="en-US" sz="1800" cap="none" dirty="0"/>
              <a:t> Highest number of tickets are resolved within 0 days (~25,000) → strong same-day resolution performance.</a:t>
            </a:r>
          </a:p>
          <a:p>
            <a:r>
              <a:rPr lang="en-US" sz="1800" cap="none" dirty="0"/>
              <a:t> Significant drop after day 0, but days 1–7 still show steady resolution volume and  most tickets are resolved within the first week, indicating efficient handling.</a:t>
            </a:r>
          </a:p>
          <a:p>
            <a:r>
              <a:rPr lang="en-US" sz="1800" cap="none" dirty="0"/>
              <a:t> After day 10, ticket volume reduces sharply, meaning very few long-pending issues and very minimal tickets beyond 15 days, suggesting backlog is well controlled.</a:t>
            </a:r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2D89D57-383F-4BD2-8FF5-7ACE7D0ADF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1562449"/>
              </p:ext>
            </p:extLst>
          </p:nvPr>
        </p:nvGraphicFramePr>
        <p:xfrm>
          <a:off x="7663555" y="2602976"/>
          <a:ext cx="3614670" cy="2366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19293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6DED-4A2A-5650-103C-05834AD8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520" y="770915"/>
            <a:ext cx="9948959" cy="159617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Distribution of Tickets Based on Satisfaction Score</a:t>
            </a:r>
            <a:br>
              <a:rPr lang="en-US" b="1" dirty="0">
                <a:solidFill>
                  <a:srgbClr val="002060"/>
                </a:solidFill>
              </a:rPr>
            </a:br>
            <a:br>
              <a:rPr lang="en-US" b="1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B45E2-F094-39AD-DF38-D91F77C9E3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6579226" cy="3719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   </a:t>
            </a:r>
            <a:r>
              <a:rPr lang="en-US" sz="1800" b="1" cap="none" dirty="0"/>
              <a:t>Insights</a:t>
            </a:r>
          </a:p>
          <a:p>
            <a:r>
              <a:rPr lang="en-US" sz="1800" cap="none" dirty="0"/>
              <a:t> Score 5 has the highest count (~50,000) → indicates excellent customer satisfaction and score 4 is also significantly high (~27,000) → majority of users are happy with the service.</a:t>
            </a:r>
          </a:p>
          <a:p>
            <a:r>
              <a:rPr lang="en-US" sz="1800" cap="none" dirty="0"/>
              <a:t> Very few low ratings (1 &amp; 2) → minimal dissatisfaction among users and score 3 is moderate, suggesting some room for improvement.</a:t>
            </a:r>
          </a:p>
          <a:p>
            <a:r>
              <a:rPr lang="en-US" sz="1800" cap="none" dirty="0"/>
              <a:t> Overall, customer satisfaction is strongly positive, with most ratings being 4 or 5.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5AF2B24-57F2-4416-86E1-C40C8582B3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639531"/>
              </p:ext>
            </p:extLst>
          </p:nvPr>
        </p:nvGraphicFramePr>
        <p:xfrm>
          <a:off x="7831668" y="2446867"/>
          <a:ext cx="3742265" cy="2587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922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38AE-5769-E7D7-4700-ACD15AA0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Strategic Recommendation 1: Targeted Training Programs</a:t>
            </a:r>
            <a:br>
              <a:rPr lang="en-US" b="1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52C1-4B46-42D3-109C-DBEA09D82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2367093"/>
            <a:ext cx="10364452" cy="3872390"/>
          </a:xfrm>
        </p:spPr>
        <p:txBody>
          <a:bodyPr>
            <a:noAutofit/>
          </a:bodyPr>
          <a:lstStyle/>
          <a:p>
            <a:r>
              <a:rPr lang="en-US" sz="1800" b="1" cap="none" dirty="0"/>
              <a:t>Recommendation:</a:t>
            </a:r>
            <a:r>
              <a:rPr lang="en-US" sz="1800" cap="none" dirty="0"/>
              <a:t> use a portion of the funds to develop a </a:t>
            </a:r>
            <a:r>
              <a:rPr lang="en-US" sz="1800" b="1" cap="none" dirty="0"/>
              <a:t>targeted training program</a:t>
            </a:r>
            <a:r>
              <a:rPr lang="en-US" sz="1800" cap="none" dirty="0"/>
              <a:t> for specific agents and on specific issue categories.</a:t>
            </a:r>
          </a:p>
          <a:p>
            <a:r>
              <a:rPr lang="en-US" sz="1800" b="1" cap="none" dirty="0"/>
              <a:t>Data-driven reason:</a:t>
            </a:r>
            <a:endParaRPr lang="en-US" sz="1800" cap="none" dirty="0"/>
          </a:p>
          <a:p>
            <a:pPr lvl="1"/>
            <a:r>
              <a:rPr lang="en-US" cap="none" dirty="0"/>
              <a:t>Agents in the bottom right have been identified as needing performance support (slide 10).</a:t>
            </a:r>
          </a:p>
          <a:p>
            <a:pPr lvl="1"/>
            <a:r>
              <a:rPr lang="en-US" cap="none" dirty="0"/>
              <a:t>The hardware category has the longest resolution times, suggesting a team-wide skill gap on this issue type (slide 11).</a:t>
            </a:r>
          </a:p>
          <a:p>
            <a:r>
              <a:rPr lang="en-US" sz="1800" b="1" cap="none" dirty="0"/>
              <a:t>Expected impact:</a:t>
            </a:r>
            <a:r>
              <a:rPr lang="en-US" sz="1800" cap="none" dirty="0"/>
              <a:t> upskilling agents on complex issues will directly lower resolution times for those tickets and improve overall customer satisfaction.</a:t>
            </a:r>
            <a:br>
              <a:rPr lang="en-US" sz="1800" cap="none" dirty="0"/>
            </a:br>
            <a:endParaRPr lang="en-IN" sz="1800" cap="none" dirty="0"/>
          </a:p>
        </p:txBody>
      </p:sp>
    </p:spTree>
    <p:extLst>
      <p:ext uri="{BB962C8B-B14F-4D97-AF65-F5344CB8AC3E}">
        <p14:creationId xmlns:p14="http://schemas.microsoft.com/office/powerpoint/2010/main" val="370185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105C-3D1A-4FF3-8C02-E36DD5A11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Strategic Recommendation 2: Consider Hiring (with Caution)</a:t>
            </a:r>
            <a:br>
              <a:rPr lang="en-US" b="1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E7C7-9DE2-E35D-9438-759E54FF3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6" y="2367093"/>
            <a:ext cx="9390158" cy="3872390"/>
          </a:xfrm>
        </p:spPr>
        <p:txBody>
          <a:bodyPr>
            <a:normAutofit/>
          </a:bodyPr>
          <a:lstStyle/>
          <a:p>
            <a:r>
              <a:rPr lang="en-US" sz="1800" b="1" cap="none" dirty="0"/>
              <a:t>Recommendation:</a:t>
            </a:r>
            <a:r>
              <a:rPr lang="en-US" sz="1800" cap="none" dirty="0"/>
              <a:t> de-prioritize immediate hiring. Instead, focus on optimizing the current team's efficiency.</a:t>
            </a:r>
          </a:p>
          <a:p>
            <a:r>
              <a:rPr lang="en-US" sz="1800" b="1" cap="none" dirty="0"/>
              <a:t>Data-driven reason:</a:t>
            </a:r>
            <a:endParaRPr lang="en-US" sz="1800" cap="none" dirty="0"/>
          </a:p>
          <a:p>
            <a:pPr lvl="1"/>
            <a:r>
              <a:rPr lang="en-US" cap="none" dirty="0"/>
              <a:t>While ticket volume is [increasing], the current team is managing it with a [stable/improving] average resolution time (slide 13).</a:t>
            </a:r>
          </a:p>
          <a:p>
            <a:pPr lvl="1"/>
            <a:r>
              <a:rPr lang="en-US" cap="none" dirty="0"/>
              <a:t>Investing in technology and training can likely unlock more capacity from the existing team, which is more cost-effective than immediate hiring.</a:t>
            </a:r>
          </a:p>
          <a:p>
            <a:r>
              <a:rPr lang="en-US" sz="1800" b="1" cap="none" dirty="0"/>
              <a:t>Future consideration:</a:t>
            </a:r>
            <a:r>
              <a:rPr lang="en-US" sz="1800" cap="none" dirty="0"/>
              <a:t> re-evaluate this in 6 months. If volume outpaces the efficiency gains from tech/training, then hiring becomes the clear next step.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97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3C03-E8C1-B19E-AD5F-29B0380C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87" y="201074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Dashboard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88A9-F2DA-935B-A8AD-2FF47308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1" y="1155102"/>
            <a:ext cx="11106462" cy="512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65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1168-93CD-874E-8B00-02C2B0F8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50027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Conclusion</a:t>
            </a:r>
            <a:br>
              <a:rPr lang="en-IN" b="1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70A7-CE72-9452-4CD8-F7E208A27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177" y="1668544"/>
            <a:ext cx="10044623" cy="3716256"/>
          </a:xfrm>
        </p:spPr>
        <p:txBody>
          <a:bodyPr>
            <a:noAutofit/>
          </a:bodyPr>
          <a:lstStyle/>
          <a:p>
            <a:pPr lvl="1"/>
            <a:r>
              <a:rPr lang="en-US" b="1" cap="none" dirty="0"/>
              <a:t>Summary of key findings:</a:t>
            </a:r>
            <a:r>
              <a:rPr lang="en-US" cap="none" dirty="0"/>
              <a:t> the IT team is performing well, but significant opportunities exist to improve efficiency and satisfaction.</a:t>
            </a:r>
          </a:p>
          <a:p>
            <a:pPr lvl="1"/>
            <a:r>
              <a:rPr lang="en-US" b="1" cap="none" dirty="0"/>
              <a:t>Main recommendations:</a:t>
            </a:r>
            <a:endParaRPr lang="en-US" cap="none" dirty="0"/>
          </a:p>
          <a:p>
            <a:pPr lvl="2"/>
            <a:r>
              <a:rPr lang="en-US" sz="1800" cap="none" dirty="0"/>
              <a:t>Prioritize investment in </a:t>
            </a:r>
            <a:r>
              <a:rPr lang="en-US" sz="1800" b="1" cap="none" dirty="0"/>
              <a:t>software/tools</a:t>
            </a:r>
            <a:r>
              <a:rPr lang="en-US" sz="1800" cap="none" dirty="0"/>
              <a:t> for the biggest impact.</a:t>
            </a:r>
          </a:p>
          <a:p>
            <a:pPr lvl="2"/>
            <a:r>
              <a:rPr lang="en-US" sz="1800" cap="none" dirty="0"/>
              <a:t>Implement </a:t>
            </a:r>
            <a:r>
              <a:rPr lang="en-US" sz="1800" b="1" cap="none" dirty="0"/>
              <a:t>targeted training</a:t>
            </a:r>
            <a:r>
              <a:rPr lang="en-US" sz="1800" cap="none" dirty="0"/>
              <a:t> for agents with performance gaps and on complex issue types.</a:t>
            </a:r>
          </a:p>
          <a:p>
            <a:pPr lvl="2"/>
            <a:r>
              <a:rPr lang="en-US" sz="1800" cap="none" dirty="0"/>
              <a:t>Optimize current team capacity before expanding headcount.</a:t>
            </a:r>
          </a:p>
          <a:p>
            <a:pPr marL="914400" lvl="2" indent="0">
              <a:buNone/>
            </a:pPr>
            <a:endParaRPr lang="en-US" sz="1800" cap="none" dirty="0"/>
          </a:p>
          <a:p>
            <a:pPr marL="457200" lvl="1" indent="0">
              <a:buNone/>
            </a:pPr>
            <a:r>
              <a:rPr lang="en-US" b="1" cap="none" dirty="0"/>
              <a:t>"By taking a data-driven approach to these strategic investments, we can transform our it support from a reactive cost center into a proactive driver of employee productivity and satisfaction."</a:t>
            </a:r>
            <a:br>
              <a:rPr lang="en-US" b="1" cap="none" dirty="0"/>
            </a:br>
            <a:endParaRPr lang="en-IN" b="1" cap="none" dirty="0"/>
          </a:p>
        </p:txBody>
      </p:sp>
    </p:spTree>
    <p:extLst>
      <p:ext uri="{BB962C8B-B14F-4D97-AF65-F5344CB8AC3E}">
        <p14:creationId xmlns:p14="http://schemas.microsoft.com/office/powerpoint/2010/main" val="1142521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88D9-F602-8EAB-9738-661E1A84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457650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Acknowledgements &amp; References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E7F3E-3F7F-C5F8-FC80-7601AD807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cap="none" dirty="0"/>
              <a:t>Data source:</a:t>
            </a:r>
            <a:r>
              <a:rPr lang="en-US" sz="1800" cap="none" dirty="0"/>
              <a:t> internal IT ticketing system data.</a:t>
            </a:r>
          </a:p>
          <a:p>
            <a:r>
              <a:rPr lang="en-US" sz="1800" b="1" cap="none" dirty="0"/>
              <a:t>Tools used:</a:t>
            </a:r>
            <a:r>
              <a:rPr lang="en-US" sz="1800" cap="none" dirty="0"/>
              <a:t> </a:t>
            </a:r>
            <a:r>
              <a:rPr lang="en-US" sz="1800" cap="none" dirty="0" err="1"/>
              <a:t>microsoft</a:t>
            </a:r>
            <a:r>
              <a:rPr lang="en-US" sz="1800" cap="none" dirty="0"/>
              <a:t> excel.</a:t>
            </a:r>
          </a:p>
          <a:p>
            <a:r>
              <a:rPr lang="en-US" sz="1800" b="1" cap="none" dirty="0"/>
              <a:t>Acknowledgements:</a:t>
            </a:r>
            <a:r>
              <a:rPr lang="en-US" sz="1800" cap="none" dirty="0"/>
              <a:t> thanks to any mentors or team members who assisted with the project.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18225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1042</TotalTime>
  <Words>1359</Words>
  <Application>Microsoft Office PowerPoint</Application>
  <PresentationFormat>Widescreen</PresentationFormat>
  <Paragraphs>100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Tw Cen MT</vt:lpstr>
      <vt:lpstr>Droplet</vt:lpstr>
      <vt:lpstr>Optimizing IT Support: A Data-Driven Analysis of Ticket Management</vt:lpstr>
      <vt:lpstr>Introduction &amp; Objectives </vt:lpstr>
      <vt:lpstr>Data Overview </vt:lpstr>
      <vt:lpstr>Methodology </vt:lpstr>
      <vt:lpstr>Impact of Age Group on IT Support Performance </vt:lpstr>
      <vt:lpstr>Ticket Distribution by Request Category</vt:lpstr>
      <vt:lpstr>Trend of Satisfaction Rate &amp; Resolution Time Over Time</vt:lpstr>
      <vt:lpstr>Trend of Ticket Volume Over Time</vt:lpstr>
      <vt:lpstr>Quarterly Resolution Time by Request Category</vt:lpstr>
      <vt:lpstr>Ticket Distribution by Severity</vt:lpstr>
      <vt:lpstr>Distribution of Tickets Based on Resolution Time</vt:lpstr>
      <vt:lpstr>Distribution of Tickets Based on Satisfaction Score  </vt:lpstr>
      <vt:lpstr>Strategic Recommendation 1: Targeted Training Programs </vt:lpstr>
      <vt:lpstr>Strategic Recommendation 2: Consider Hiring (with Caution) </vt:lpstr>
      <vt:lpstr>Dashboard </vt:lpstr>
      <vt:lpstr>Conclusion </vt:lpstr>
      <vt:lpstr>Acknowledgements &amp; 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Ayra Kathuria</dc:creator>
  <cp:lastModifiedBy>ayra_kathuria@outlook.com</cp:lastModifiedBy>
  <cp:revision>25</cp:revision>
  <dcterms:created xsi:type="dcterms:W3CDTF">2026-02-26T19:44:00Z</dcterms:created>
  <dcterms:modified xsi:type="dcterms:W3CDTF">2026-03-29T19:25:21Z</dcterms:modified>
</cp:coreProperties>
</file>